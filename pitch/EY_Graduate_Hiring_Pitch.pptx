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pitch: our argument is that EY should keep hiring graduates even as AI takes over routine tasks.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2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0"/>
            <a:ext cx="2834640" cy="5143500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600200"/>
            <a:ext cx="1645920" cy="1645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E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28016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EY should still hire graduates in the age of AI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3383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should take over the tasks, not the talent pipeline.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00  OUR POSITION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E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takes the tasks. Graduates make it valuable.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gets the most out of AI when skilled graduates are there to: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560320" cy="2377440"/>
          </a:xfrm>
          <a:prstGeom prst="rect">
            <a:avLst/>
          </a:prstGeom>
          <a:solidFill>
            <a:srgbClr val="F4F4F6"/>
          </a:solidFill>
          <a:ln w="12700">
            <a:solidFill>
              <a:srgbClr val="F4F4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286000"/>
            <a:ext cx="731520" cy="731520"/>
          </a:xfrm>
          <a:prstGeom prst="ellipse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4688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31520" y="31089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it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3703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structured data that AI depends on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3291840" y="2011680"/>
            <a:ext cx="2560320" cy="2377440"/>
          </a:xfrm>
          <a:prstGeom prst="rect">
            <a:avLst/>
          </a:prstGeom>
          <a:solidFill>
            <a:srgbClr val="F4F4F6"/>
          </a:solidFill>
          <a:ln w="12700">
            <a:solidFill>
              <a:srgbClr val="F4F4F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566160" y="2286000"/>
            <a:ext cx="731520" cy="731520"/>
          </a:xfrm>
          <a:prstGeom prst="ellipse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24688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566160" y="31089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it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3566160" y="3703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Review, question and correct its output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126480" y="2011680"/>
            <a:ext cx="2560320" cy="2377440"/>
          </a:xfrm>
          <a:prstGeom prst="rect">
            <a:avLst/>
          </a:prstGeom>
          <a:solidFill>
            <a:srgbClr val="F4F4F6"/>
          </a:solidFill>
          <a:ln w="12700">
            <a:solidFill>
              <a:srgbClr val="F4F4F6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400800" y="2286000"/>
            <a:ext cx="731520" cy="731520"/>
          </a:xfrm>
          <a:prstGeom prst="ellipse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4688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400800" y="31089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E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 it into client value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6400800" y="3703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results and build client trust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INNOVATION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E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graduate skillset has changed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2377440" cy="1417320"/>
          </a:xfrm>
          <a:prstGeom prst="rect">
            <a:avLst/>
          </a:prstGeom>
          <a:solidFill>
            <a:srgbClr val="F4F4F6"/>
          </a:solidFill>
          <a:ln w="12700">
            <a:solidFill>
              <a:srgbClr val="F4F4F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55448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4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endParaRPr lang="en-US" sz="11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“Copy, paste and attach” juniors</a:t>
            </a:r>
            <a:endParaRPr lang="en-US" sz="11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26080" y="1965960"/>
            <a:ext cx="320040" cy="3200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337560" y="1417320"/>
            <a:ext cx="2377440" cy="1417320"/>
          </a:xfrm>
          <a:prstGeom prst="rect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520440" y="1554480"/>
            <a:ext cx="2011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1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fundamentals + tech fluency + communication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063240"/>
            <a:ext cx="5257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use AI tools, data analysis and automation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alongside AI rather than retrained around it, so they adopt new tools faster than existing staff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035040" y="1417320"/>
            <a:ext cx="2651760" cy="2788920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217920" y="155448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E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80%+</a:t>
            </a:r>
            <a:endParaRPr lang="en-US" sz="5400" dirty="0"/>
          </a:p>
        </p:txBody>
      </p:sp>
      <p:sp>
        <p:nvSpPr>
          <p:cNvPr id="12" name="Text 9"/>
          <p:cNvSpPr txBox="1"/>
          <p:nvPr/>
        </p:nvSpPr>
        <p:spPr>
          <a:xfrm>
            <a:off x="6217920" y="2423160"/>
            <a:ext cx="2286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respondents to EY’s own research expect tax teams to shift from purely technical tax skills towards data, process and tech skills.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6217920" y="37033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what new graduates bring.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4434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the graduate role isn’t disappearing. It’s being upgraded.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FEASIBILITY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E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can’t fully replace graduates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560320" cy="1691640"/>
          </a:xfrm>
          <a:prstGeom prst="rect">
            <a:avLst/>
          </a:prstGeom>
          <a:solidFill>
            <a:srgbClr val="F4F4F6"/>
          </a:solidFill>
          <a:ln w="12700">
            <a:solidFill>
              <a:srgbClr val="F4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457200" cy="457200"/>
          </a:xfrm>
          <a:prstGeom prst="ellipse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623060"/>
            <a:ext cx="228600" cy="2286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508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needs clean data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0574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EY’s example, inconsistently coded human data confused an AI model. Many firms still run on disconnected spreadsheets and multiple ERPs.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291840" y="1325880"/>
            <a:ext cx="2560320" cy="1691640"/>
          </a:xfrm>
          <a:prstGeom prst="rect">
            <a:avLst/>
          </a:prstGeom>
          <a:solidFill>
            <a:srgbClr val="F4F4F6"/>
          </a:solidFill>
          <a:ln w="12700">
            <a:solidFill>
              <a:srgbClr val="F4F4F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74720" y="1508760"/>
            <a:ext cx="457200" cy="457200"/>
          </a:xfrm>
          <a:prstGeom prst="ellipse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9020" y="1623060"/>
            <a:ext cx="228600" cy="2286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023360" y="1508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Accountability can’t be automated</a:t>
            </a:r>
            <a:endParaRPr lang="en-US" sz="1200" dirty="0"/>
          </a:p>
        </p:txBody>
      </p:sp>
      <p:sp>
        <p:nvSpPr>
          <p:cNvPr id="13" name="Text 9"/>
          <p:cNvSpPr txBox="1"/>
          <p:nvPr/>
        </p:nvSpPr>
        <p:spPr>
          <a:xfrm>
            <a:off x="3474720" y="20574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says AI decisions should be open to review, questioning and correction. That review layer needs trained people.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126480" y="1325880"/>
            <a:ext cx="2560320" cy="1691640"/>
          </a:xfrm>
          <a:prstGeom prst="rect">
            <a:avLst/>
          </a:prstGeom>
          <a:solidFill>
            <a:srgbClr val="F4F4F6"/>
          </a:solidFill>
          <a:ln w="12700">
            <a:solidFill>
              <a:srgbClr val="F4F4F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09360" y="1508760"/>
            <a:ext cx="457200" cy="457200"/>
          </a:xfrm>
          <a:prstGeom prst="ellipse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3660" y="1623060"/>
            <a:ext cx="228600" cy="22860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6858000" y="1508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Explainability may become law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6309360" y="20574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suggests a GDPR-style path, meaning more human oversight, not less.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57200" y="3154680"/>
            <a:ext cx="2560320" cy="1691640"/>
          </a:xfrm>
          <a:prstGeom prst="rect">
            <a:avLst/>
          </a:prstGeom>
          <a:solidFill>
            <a:srgbClr val="F4F4F6"/>
          </a:solidFill>
          <a:ln w="12700">
            <a:solidFill>
              <a:srgbClr val="F4F4F6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0080" y="3337560"/>
            <a:ext cx="457200" cy="457200"/>
          </a:xfrm>
          <a:prstGeom prst="ellipse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3451860"/>
            <a:ext cx="228600" cy="22860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188720" y="3337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 relationships are human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640080" y="38862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 win work through trust. Graduates are the day-to-day contact where that trust starts.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291840" y="3154680"/>
            <a:ext cx="2560320" cy="1691640"/>
          </a:xfrm>
          <a:prstGeom prst="rect">
            <a:avLst/>
          </a:prstGeom>
          <a:solidFill>
            <a:srgbClr val="F4F4F6"/>
          </a:solidFill>
          <a:ln w="12700">
            <a:solidFill>
              <a:srgbClr val="F4F4F6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3474720" y="3337560"/>
            <a:ext cx="457200" cy="457200"/>
          </a:xfrm>
          <a:prstGeom prst="ellipse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9020" y="3451860"/>
            <a:ext cx="228600" cy="22860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023360" y="3337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&amp; interpersonal work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3474720" y="38862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counts, site visits, chasing client teams, and spotting when answers don’t add up.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126480" y="3154680"/>
            <a:ext cx="2560320" cy="1691640"/>
          </a:xfrm>
          <a:prstGeom prst="rect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309360" y="3337560"/>
            <a:ext cx="457200" cy="457200"/>
          </a:xfrm>
          <a:prstGeom prst="ellipse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3660" y="3451860"/>
            <a:ext cx="228600" cy="2286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858000" y="33375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E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 problem</a:t>
            </a:r>
            <a:endParaRPr lang="en-US" sz="1200" dirty="0"/>
          </a:p>
        </p:txBody>
      </p:sp>
      <p:sp>
        <p:nvSpPr>
          <p:cNvPr id="33" name="Text 25"/>
          <p:cNvSpPr txBox="1"/>
          <p:nvPr/>
        </p:nvSpPr>
        <p:spPr>
          <a:xfrm>
            <a:off x="6309360" y="38862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future manager, partner and MD starts as a graduate. Cut hiring and the bench is empty in 10 years.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E2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E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COLLABORATION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+ graduates = more productivity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 case study: 15,000 tax transactions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783080"/>
            <a:ext cx="1965960" cy="1737360"/>
          </a:xfrm>
          <a:prstGeom prst="rect">
            <a:avLst/>
          </a:prstGeom>
          <a:solidFill>
            <a:srgbClr val="1A1A24"/>
          </a:solidFill>
          <a:ln w="12700">
            <a:solidFill>
              <a:srgbClr val="1A1A24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920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E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860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~30 hours</a:t>
            </a:r>
            <a:endParaRPr lang="en-US" sz="2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9718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95–97% accuracy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606040" y="1783080"/>
            <a:ext cx="1965960" cy="1737360"/>
          </a:xfrm>
          <a:prstGeom prst="rect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788920" y="192024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2E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788920" y="228600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E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 seconds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2788920" y="297180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E2E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accuracy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178308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E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50%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180136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human review time. People stayed in the loop, focusing on high-value, low-confidence items.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2697480"/>
            <a:ext cx="1417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E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40–70%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2715768"/>
            <a:ext cx="2331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tax teams’ time goes on gathering and manipulating data. AI frees it for strategy and advisory work.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023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did the volume. Humans did the judgement.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4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COLLABORATION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94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2E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graduate roles are being created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1828800" cy="1737360"/>
          </a:xfrm>
          <a:prstGeom prst="rect">
            <a:avLst/>
          </a:prstGeom>
          <a:solidFill>
            <a:srgbClr val="F4F4F6"/>
          </a:solidFill>
          <a:ln w="12700">
            <a:solidFill>
              <a:srgbClr val="F4F4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600200"/>
            <a:ext cx="731520" cy="731520"/>
          </a:xfrm>
          <a:prstGeom prst="ellipse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7830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24688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output reviewer / quality control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560320" y="1417320"/>
            <a:ext cx="1828800" cy="1737360"/>
          </a:xfrm>
          <a:prstGeom prst="rect">
            <a:avLst/>
          </a:prstGeom>
          <a:solidFill>
            <a:srgbClr val="F4F4F6"/>
          </a:solidFill>
          <a:ln w="12700">
            <a:solidFill>
              <a:srgbClr val="F4F4F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108960" y="1600200"/>
            <a:ext cx="731520" cy="731520"/>
          </a:xfrm>
          <a:prstGeom prst="ellipse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7830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697480" y="24688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preparation &amp; governance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663440" y="1417320"/>
            <a:ext cx="1828800" cy="1737360"/>
          </a:xfrm>
          <a:prstGeom prst="rect">
            <a:avLst/>
          </a:prstGeom>
          <a:solidFill>
            <a:srgbClr val="F4F4F6"/>
          </a:solidFill>
          <a:ln w="12700">
            <a:solidFill>
              <a:srgbClr val="F4F4F6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5212080" y="1600200"/>
            <a:ext cx="731520" cy="731520"/>
          </a:xfrm>
          <a:prstGeom prst="ellipse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78308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4800600" y="24688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risk &amp; AI assurance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6766560" y="1417320"/>
            <a:ext cx="1828800" cy="1737360"/>
          </a:xfrm>
          <a:prstGeom prst="rect">
            <a:avLst/>
          </a:prstGeom>
          <a:solidFill>
            <a:srgbClr val="F4F4F6"/>
          </a:solidFill>
          <a:ln w="12700">
            <a:solidFill>
              <a:srgbClr val="F4F4F6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315200" y="1600200"/>
            <a:ext cx="731520" cy="731520"/>
          </a:xfrm>
          <a:prstGeom prst="ellipse">
            <a:avLst/>
          </a:prstGeom>
          <a:solidFill>
            <a:srgbClr val="FFE600"/>
          </a:solidFill>
          <a:ln w="12700">
            <a:solidFill>
              <a:srgbClr val="FFE600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1783080"/>
            <a:ext cx="365760" cy="36576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903720" y="24688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2E3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Tax technology &amp; automation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457200" y="3429000"/>
            <a:ext cx="8229600" cy="1188720"/>
          </a:xfrm>
          <a:prstGeom prst="rect">
            <a:avLst/>
          </a:prstGeom>
          <a:solidFill>
            <a:srgbClr val="2E2E38"/>
          </a:solidFill>
          <a:ln w="12700">
            <a:solidFill>
              <a:srgbClr val="2E2E38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703320"/>
            <a:ext cx="640080" cy="64008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645920" y="356616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career development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Graduates move to higher-value work sooner, which builds judgement faster.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E2E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40080"/>
            <a:ext cx="640080" cy="6400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457200" y="1417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E6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makes graduates more valuable, not less.</a:t>
            </a:r>
            <a:endParaRPr lang="en-US" sz="3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26517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firms that win will be the ones that pair AI’s speed with graduates who can check it, explain it, and turn it into client trust.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457200" y="397764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1A1A24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77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it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194560" y="397764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1A1A24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194560" y="3977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it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931920" y="397764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1A1A24"/>
          </a:solidFill>
          <a:ln w="12700">
            <a:solidFill>
              <a:srgbClr val="FFE60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931920" y="39776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E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trust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Why EY should still hire graduates in the age of AI</dc:title>
  <dc:subject>PptxGenJS Presentation</dc:subject>
  <dc:creator>PptxGenJS</dc:creator>
  <cp:lastModifiedBy>PptxGenJS</cp:lastModifiedBy>
  <cp:revision>1</cp:revision>
  <dcterms:created xsi:type="dcterms:W3CDTF">2026-09-24T09:57:36Z</dcterms:created>
  <dcterms:modified xsi:type="dcterms:W3CDTF">2026-09-24T09:57:36Z</dcterms:modified>
</cp:coreProperties>
</file>